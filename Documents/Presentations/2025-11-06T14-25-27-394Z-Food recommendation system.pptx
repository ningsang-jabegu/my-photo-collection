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82" r:id="rId4"/>
    <p:sldId id="281" r:id="rId5"/>
    <p:sldId id="283" r:id="rId6"/>
    <p:sldId id="284" r:id="rId7"/>
    <p:sldId id="285" r:id="rId8"/>
    <p:sldId id="286" r:id="rId9"/>
    <p:sldId id="287" r:id="rId10"/>
    <p:sldId id="289" r:id="rId11"/>
    <p:sldId id="288" r:id="rId12"/>
    <p:sldId id="290" r:id="rId13"/>
    <p:sldId id="291" r:id="rId14"/>
    <p:sldId id="292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3GoZLNo4et2oDWcgnzcNnOwma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441D"/>
    <a:srgbClr val="BB3A3A"/>
    <a:srgbClr val="BA3838"/>
    <a:srgbClr val="C5684F"/>
    <a:srgbClr val="87402D"/>
    <a:srgbClr val="642F21"/>
    <a:srgbClr val="D562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2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6B3F430-6800-5E19-A3F1-39977399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653504C6-7D75-E99E-E213-AE270086C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559EBA12-956E-4EE0-DA66-08FAA7B84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2910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E014F4E-77BD-3243-9906-7448A06B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7982298D-B61C-98CA-28BC-FB9FB698F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8AA22744-D89B-3298-C315-F1E8CE31C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3780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7800CE3-131B-843F-94CB-151B85539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E29976B8-9547-9119-D971-86C0E326C1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AEF853B3-75FD-B911-11B3-18543B578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11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7157C8F8-D2C9-0CE8-7E93-F0F927B89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4E2E3D4D-C874-0396-3D0F-359695A48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F90FA82B-9E48-3314-93FF-4EBF365164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313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A7983FBF-DE03-B4CC-93CD-2925FA75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036CCA8C-0291-6BE0-D8D9-B32249DC8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9AFC19F9-AC04-23B1-15CD-CBFF765E7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223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47C637F-6995-26C0-29DF-70046537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0531DF08-8D1E-008E-8A26-92AB10E36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FD00BA3B-FA61-4A78-EAEE-EF9688FC06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561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EDD1BFE4-FD95-F874-3316-6B9D98454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2341A1CD-6235-D332-9278-1F255FCF0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E93A8CB2-4586-9C66-6A25-7A22D39A8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059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320FAAA-D716-63E1-AD85-BD1B92C43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0F28189F-4B30-BC0D-D5C6-938F87DBEB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3389C559-7F9B-2C70-D04E-9B17BFAB7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866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6377C31-9538-5861-BB58-C2E4B9B2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A8BA8D62-42F0-9E80-6F41-0786B69867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746F07EB-E797-97D3-95AA-0A5E35DDD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50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21D178F-9764-E427-0404-C5D5692D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115B785F-227D-CAAC-F6A2-688F77AF2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335D21CC-2055-F0C4-19FC-87D3907873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467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4BFACCB-1C50-9EB4-25FB-52EDF0B2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89E7F07C-7D76-88B1-86B9-793E2CBF0B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AFBEC381-2AA4-BF62-3064-BDE94D3CC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936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96283A40-C79C-0AAC-D3BB-9F7740BC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CF3D1EFE-7CF6-97B8-150E-201F20671B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68B4C327-9F73-E502-6CDB-EE31A6B5A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595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3295530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396849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346022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2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152422"/>
            <a:ext cx="865613" cy="81809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474530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2699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425142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2"/>
            <a:ext cx="7210397" cy="8107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5"/>
            <a:ext cx="3354245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00440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89523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5911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5"/>
            <a:ext cx="4206252" cy="2699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03510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3" y="564921"/>
            <a:ext cx="7210393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907192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860020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8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8"/>
            <a:ext cx="7210397" cy="4672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482"/>
            <a:ext cx="865613" cy="81809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10685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8"/>
            <a:ext cx="721039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865613" cy="81809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936590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685637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2"/>
            <a:ext cx="7210397" cy="4414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2"/>
            <a:ext cx="7210397" cy="37669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139453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7" y="564921"/>
            <a:ext cx="7218720" cy="81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5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5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2267005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113155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5" cy="81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1218607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138850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6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2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8"/>
            <a:ext cx="6652503" cy="3994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fld id="{6178E61D-D431-422C-9764-11DAFE33AB63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1"/>
            <a:ext cx="4595104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4048975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0455240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414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4452141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74624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title"/>
          </p:nvPr>
        </p:nvSpPr>
        <p:spPr>
          <a:xfrm>
            <a:off x="454563" y="3205352"/>
            <a:ext cx="8520112" cy="73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sz="20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Supath Shrestha(25705/077)</a:t>
            </a:r>
            <a:endParaRPr sz="20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Suyog Shrestha(25707/077)</a:t>
            </a:r>
            <a:endParaRPr sz="20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Uddhab Shrestha(25708/077)</a:t>
            </a:r>
            <a:endParaRPr sz="20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-US" sz="2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sz="2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2000" baseline="30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Jan, 2025</a:t>
            </a:r>
            <a:endParaRPr sz="20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title" idx="4294967295"/>
          </p:nvPr>
        </p:nvSpPr>
        <p:spPr>
          <a:xfrm>
            <a:off x="1538288" y="347252"/>
            <a:ext cx="8520112" cy="84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Recommendation System</a:t>
            </a:r>
            <a:endParaRPr sz="32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title" idx="4294967295"/>
          </p:nvPr>
        </p:nvSpPr>
        <p:spPr>
          <a:xfrm>
            <a:off x="454563" y="1784023"/>
            <a:ext cx="8520112" cy="84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Defense</a:t>
            </a:r>
            <a:endParaRPr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11700" y="2999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624150" y="1234475"/>
            <a:ext cx="7895700" cy="4501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Food Recommendation system, a system which recommends food item to users.</a:t>
            </a:r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Implemented by using Collaborative Filtering and Content Based Filtering.</a:t>
            </a:r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Developed to recommend foods based on user ratings.</a:t>
            </a:r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Suggest similar foods based on the food ingredients.</a:t>
            </a:r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sz="1600" dirty="0"/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sz="1600" dirty="0"/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sz="1600" dirty="0"/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sz="1600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F157A3DA-E255-3354-DE8B-AFC3F3934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A9624692-0254-A47F-8906-12C6D84678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99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  <a:endParaRPr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A3DD4833-A37D-DDB8-F738-5BABD810DC36}"/>
              </a:ext>
            </a:extLst>
          </p:cNvPr>
          <p:cNvSpPr txBox="1"/>
          <p:nvPr/>
        </p:nvSpPr>
        <p:spPr>
          <a:xfrm>
            <a:off x="624150" y="1234475"/>
            <a:ext cx="7895700" cy="173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Choosing a particular food items is challenging task.</a:t>
            </a:r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Difficulty for restaurant to increase food sales.</a:t>
            </a:r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600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041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C26FC022-D742-3F5D-C762-11BEBBD5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BDB8697B-5E76-BB26-A003-1DD643F144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99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1BE765B7-51DE-EC24-F129-AA00C4263D2F}"/>
              </a:ext>
            </a:extLst>
          </p:cNvPr>
          <p:cNvSpPr txBox="1"/>
          <p:nvPr/>
        </p:nvSpPr>
        <p:spPr>
          <a:xfrm>
            <a:off x="624150" y="1234475"/>
            <a:ext cx="7895700" cy="2146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To develop a personalized recommendations using collaborative filtering approach.</a:t>
            </a:r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To boost restaurant sales.</a:t>
            </a:r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600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667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46B6D882-AEDB-ED15-4E35-4C3AA256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5498B7F8-0837-99B0-060C-2BB573F52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99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F022A070-ADF7-C762-49B0-AA9C12D549F5}"/>
              </a:ext>
            </a:extLst>
          </p:cNvPr>
          <p:cNvSpPr txBox="1"/>
          <p:nvPr/>
        </p:nvSpPr>
        <p:spPr>
          <a:xfrm>
            <a:off x="624150" y="1234475"/>
            <a:ext cx="7895700" cy="2977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Used Singular Value Decomposition (SVD) approach for model-based Collaborative Filtering.</a:t>
            </a:r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dirty="0"/>
              <a:t>Used Term Frequency- Inverse Document Frequency (TF-IDF) and cosine similarity for Content Based Filtering.</a:t>
            </a:r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600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651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7D5DAF68-F704-D251-6FAD-0762EA981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D5E633BE-9938-5D33-7E75-0DBC6947D0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99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SVD</a:t>
            </a:r>
            <a:endParaRPr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Google Shape;63;p2">
                <a:extLst>
                  <a:ext uri="{FF2B5EF4-FFF2-40B4-BE49-F238E27FC236}">
                    <a16:creationId xmlns:a16="http://schemas.microsoft.com/office/drawing/2014/main" id="{562EFC09-F15C-E992-4054-1C233DA0740B}"/>
                  </a:ext>
                </a:extLst>
              </p:cNvPr>
              <p:cNvSpPr txBox="1"/>
              <p:nvPr/>
            </p:nvSpPr>
            <p:spPr>
              <a:xfrm>
                <a:off x="638646" y="1141700"/>
                <a:ext cx="7866707" cy="4700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r>
                  <a:rPr lang="en-US" dirty="0"/>
                  <a:t>Matrix factorization technique</a:t>
                </a:r>
              </a:p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r>
                  <a:rPr lang="en-US" dirty="0"/>
                  <a:t>Decomposes user-item interaction matrix R into three matrices:</a:t>
                </a:r>
              </a:p>
              <a:p>
                <a:pPr marL="133350" marR="0" lvl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r>
                  <a:rPr lang="en-US" dirty="0"/>
                  <a:t>R = U. </a:t>
                </a:r>
                <a:r>
                  <a:rPr lang="el-GR" dirty="0"/>
                  <a:t>Σ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dirty="0"/>
              </a:p>
              <a:p>
                <a:pPr marL="133350" marR="0" lvl="0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r>
                  <a:rPr lang="en-US" dirty="0"/>
                  <a:t>     Where,</a:t>
                </a:r>
              </a:p>
              <a:p>
                <a:pPr marL="133350" marR="0" lvl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r>
                  <a:rPr lang="en-US" dirty="0"/>
                  <a:t>		    U: User latent matrix </a:t>
                </a:r>
              </a:p>
              <a:p>
                <a:pPr marL="133350" marR="0" lvl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r>
                  <a:rPr lang="en-US" dirty="0"/>
                  <a:t>		    </a:t>
                </a:r>
                <a:r>
                  <a:rPr lang="el-GR" dirty="0"/>
                  <a:t>Σ</a:t>
                </a:r>
                <a:r>
                  <a:rPr lang="en-US" dirty="0"/>
                  <a:t>: Diagonal matrix of singular values</a:t>
                </a:r>
              </a:p>
              <a:p>
                <a:pPr marL="133350" marR="0" lvl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r>
                  <a:rPr lang="en-US" dirty="0"/>
                  <a:t>		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dirty="0"/>
                  <a:t>: Item latent matrix</a:t>
                </a:r>
              </a:p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endParaRPr lang="en-US" dirty="0"/>
              </a:p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endParaRPr lang="en-US" dirty="0"/>
              </a:p>
              <a:p>
                <a:pPr marL="133350" marR="0" lvl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endParaRPr lang="en-US" dirty="0"/>
              </a:p>
              <a:p>
                <a:pPr marL="133350" marR="0" lvl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endParaRPr lang="en-US" sz="15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3" name="Google Shape;63;p2">
                <a:extLst>
                  <a:ext uri="{FF2B5EF4-FFF2-40B4-BE49-F238E27FC236}">
                    <a16:creationId xmlns:a16="http://schemas.microsoft.com/office/drawing/2014/main" id="{562EFC09-F15C-E992-4054-1C233DA07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46" y="1141700"/>
                <a:ext cx="7866707" cy="47007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40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A1D738AA-E2F9-E6E1-FC76-DB545CDA5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C0BBFED6-18EC-C572-2333-00EAD10A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99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  <a:endParaRPr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Google Shape;63;p2">
                <a:extLst>
                  <a:ext uri="{FF2B5EF4-FFF2-40B4-BE49-F238E27FC236}">
                    <a16:creationId xmlns:a16="http://schemas.microsoft.com/office/drawing/2014/main" id="{F286049A-FA4B-C1CA-F38C-26EE05459B98}"/>
                  </a:ext>
                </a:extLst>
              </p:cNvPr>
              <p:cNvSpPr txBox="1"/>
              <p:nvPr/>
            </p:nvSpPr>
            <p:spPr>
              <a:xfrm>
                <a:off x="624150" y="1234475"/>
                <a:ext cx="7895700" cy="34955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r>
                  <a:rPr lang="en-US" dirty="0"/>
                  <a:t>TF measures how often a term t appears in a document d.</a:t>
                </a:r>
              </a:p>
              <a:p>
                <a:pPr marL="133350" marR="0" lvl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r>
                  <a:rPr lang="en-US" i="1" dirty="0"/>
                  <a:t>TF</a:t>
                </a:r>
                <a:r>
                  <a:rPr lang="en-US" dirty="0"/>
                  <a:t>(</a:t>
                </a:r>
                <a:r>
                  <a:rPr lang="en-US" i="1" dirty="0"/>
                  <a:t>t, d</a:t>
                </a:r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𝑎𝑝𝑝𝑒𝑎𝑟𝑠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𝑑𝑜𝑐𝑢𝑚𝑒𝑛𝑡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𝑡𝑒𝑟𝑚𝑠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𝑑𝑜𝑐𝑢𝑚𝑒𝑛𝑡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lang="en-US" dirty="0"/>
              </a:p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r>
                  <a:rPr lang="en-US" dirty="0"/>
                  <a:t>IDF measure how unique a term is across all documents in dataset.</a:t>
                </a:r>
              </a:p>
              <a:p>
                <a:pPr marL="133350" marR="0" lvl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r>
                  <a:rPr lang="en-US" i="1" dirty="0"/>
                  <a:t>IDF</a:t>
                </a:r>
                <a:r>
                  <a:rPr lang="en-US" dirty="0"/>
                  <a:t>(</a:t>
                </a:r>
                <a:r>
                  <a:rPr lang="en-US" i="1" dirty="0"/>
                  <a:t>t,D</a:t>
                </a:r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𝑑𝑜𝑐𝑢𝑚𝑒𝑛𝑡𝑠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𝑑𝑎𝑡𝑠𝑒𝑡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𝑑𝑜𝑐𝑢𝑚𝑒𝑛𝑡𝑠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𝑐𝑜𝑛𝑡𝑎𝑖𝑛𝑖𝑛𝑔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𝑡𝑒𝑟𝑚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</a:p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r>
                  <a:rPr lang="en-US" dirty="0"/>
                  <a:t>TD-IDF gives weight to each terms in a document</a:t>
                </a:r>
              </a:p>
              <a:p>
                <a:pPr marL="133350" marR="0" lvl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r>
                  <a:rPr lang="en-US" i="1" dirty="0"/>
                  <a:t>TF-IDF(t, d) =TF(t, d) * IDF(t, D)</a:t>
                </a:r>
              </a:p>
              <a:p>
                <a:pPr marL="133350" marR="0" lvl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endParaRPr lang="en-US" sz="15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3" name="Google Shape;63;p2">
                <a:extLst>
                  <a:ext uri="{FF2B5EF4-FFF2-40B4-BE49-F238E27FC236}">
                    <a16:creationId xmlns:a16="http://schemas.microsoft.com/office/drawing/2014/main" id="{F286049A-FA4B-C1CA-F38C-26EE05459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50" y="1234475"/>
                <a:ext cx="7895700" cy="34955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2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667B4210-D402-943A-B403-59D8294B2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C6371CA5-F78C-7724-15FF-3350750DE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99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endParaRPr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Google Shape;63;p2">
                <a:extLst>
                  <a:ext uri="{FF2B5EF4-FFF2-40B4-BE49-F238E27FC236}">
                    <a16:creationId xmlns:a16="http://schemas.microsoft.com/office/drawing/2014/main" id="{92A50066-18A3-3B6D-4ABB-CBACC492919C}"/>
                  </a:ext>
                </a:extLst>
              </p:cNvPr>
              <p:cNvSpPr txBox="1"/>
              <p:nvPr/>
            </p:nvSpPr>
            <p:spPr>
              <a:xfrm>
                <a:off x="624150" y="1234475"/>
                <a:ext cx="7895700" cy="41237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r>
                  <a:rPr lang="en-US" dirty="0"/>
                  <a:t>Calcualte</a:t>
                </a:r>
                <a:r>
                  <a:rPr lang="en-US" dirty="0" err="1"/>
                  <a:t>s</a:t>
                </a:r>
                <a:r>
                  <a:rPr lang="en-US" dirty="0"/>
                  <a:t> the cosine angle between two vectors.</a:t>
                </a:r>
              </a:p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r>
                  <a:rPr lang="en-US" dirty="0"/>
                  <a:t>Measure the similarity between two vectors.</a:t>
                </a:r>
              </a:p>
              <a:p>
                <a:pPr marL="133350" marR="0" lvl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r>
                  <a:rPr lang="en-US" dirty="0">
                    <a:cs typeface="Times New Roman" panose="02020603050405020304" pitchFamily="18" charset="0"/>
                  </a:rPr>
                  <a:t>Cosine Similarity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dirty="0">
                  <a:cs typeface="Times New Roman" panose="02020603050405020304" pitchFamily="18" charset="0"/>
                </a:endParaRPr>
              </a:p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r>
                  <a:rPr lang="en-US" dirty="0"/>
                  <a:t>Value ranges from [-1,1].</a:t>
                </a:r>
              </a:p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endParaRPr lang="en-US" dirty="0"/>
              </a:p>
              <a:p>
                <a:pPr marL="133350" marR="0" lvl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endParaRPr lang="en-US" dirty="0"/>
              </a:p>
              <a:p>
                <a:pPr marL="457200" marR="0" lvl="0" indent="-32385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Char char="●"/>
                </a:pPr>
                <a:endParaRPr lang="en-US" dirty="0"/>
              </a:p>
              <a:p>
                <a:pPr marL="133350" marR="0" lvl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endParaRPr lang="en-US" dirty="0"/>
              </a:p>
              <a:p>
                <a:pPr marL="133350" marR="0" lvl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</a:pPr>
                <a:endParaRPr lang="en-US" sz="15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3" name="Google Shape;63;p2">
                <a:extLst>
                  <a:ext uri="{FF2B5EF4-FFF2-40B4-BE49-F238E27FC236}">
                    <a16:creationId xmlns:a16="http://schemas.microsoft.com/office/drawing/2014/main" id="{92A50066-18A3-3B6D-4ABB-CBACC4929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50" y="1234475"/>
                <a:ext cx="7895700" cy="4123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794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3725BDC6-7A47-1964-34C7-B6EC7279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B2A807E7-EF09-BE16-6192-21AA109A93B2}"/>
              </a:ext>
            </a:extLst>
          </p:cNvPr>
          <p:cNvSpPr txBox="1"/>
          <p:nvPr/>
        </p:nvSpPr>
        <p:spPr>
          <a:xfrm>
            <a:off x="624150" y="1234475"/>
            <a:ext cx="7895700" cy="219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B3B5D-AA87-8C8E-BFC4-A77EC58D9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73" y="274321"/>
            <a:ext cx="8334103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68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CD9E4265-6A18-2936-628D-9B5FCD35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DC4E696B-04F1-83E3-9C71-14688532AAB9}"/>
              </a:ext>
            </a:extLst>
          </p:cNvPr>
          <p:cNvSpPr txBox="1"/>
          <p:nvPr/>
        </p:nvSpPr>
        <p:spPr>
          <a:xfrm>
            <a:off x="624150" y="1234475"/>
            <a:ext cx="7895700" cy="219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979A34-BE95-CCAD-2ACF-A5B05C384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3509"/>
            <a:ext cx="8451670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54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28221990-807B-9967-C74D-A741A9B9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40308911-240E-BEAF-5461-EAAEDDDCEEBC}"/>
              </a:ext>
            </a:extLst>
          </p:cNvPr>
          <p:cNvSpPr txBox="1"/>
          <p:nvPr/>
        </p:nvSpPr>
        <p:spPr>
          <a:xfrm>
            <a:off x="624150" y="1234475"/>
            <a:ext cx="7895700" cy="219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screenshot of food items&#10;&#10;Description automatically generated">
            <a:extLst>
              <a:ext uri="{FF2B5EF4-FFF2-40B4-BE49-F238E27FC236}">
                <a16:creationId xmlns:a16="http://schemas.microsoft.com/office/drawing/2014/main" id="{6CB22684-B82F-8449-5875-C6ADCFEC7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54" y="326571"/>
            <a:ext cx="8425544" cy="449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29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7EDBF5A5-84C2-DAD0-AA9E-173EF53A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B286C5E1-54F8-0637-3BFE-DF29FF4641FB}"/>
              </a:ext>
            </a:extLst>
          </p:cNvPr>
          <p:cNvSpPr txBox="1"/>
          <p:nvPr/>
        </p:nvSpPr>
        <p:spPr>
          <a:xfrm>
            <a:off x="624150" y="1234475"/>
            <a:ext cx="7895700" cy="219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A40EA-23B7-EF16-2EBC-5C8F29961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51" y="202474"/>
            <a:ext cx="8236131" cy="47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337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7DD423F4-0FB3-FF0E-2353-33E0650E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0F4C3A77-1577-7D00-3B62-2B7CE0965592}"/>
              </a:ext>
            </a:extLst>
          </p:cNvPr>
          <p:cNvSpPr txBox="1"/>
          <p:nvPr/>
        </p:nvSpPr>
        <p:spPr>
          <a:xfrm>
            <a:off x="624150" y="1234475"/>
            <a:ext cx="7895700" cy="219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CDCBEB-D9ED-1EC1-68A8-3F903594E4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793"/>
          <a:stretch/>
        </p:blipFill>
        <p:spPr>
          <a:xfrm>
            <a:off x="568234" y="293914"/>
            <a:ext cx="8118566" cy="457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23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441D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F2F6C2F9-A47B-3998-2FB5-42022C3F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8B3255-F5A5-8B57-1E5A-E92F10732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4BF0BB39-2F2C-AB94-6FF9-4DBF43060E05}"/>
              </a:ext>
            </a:extLst>
          </p:cNvPr>
          <p:cNvSpPr txBox="1"/>
          <p:nvPr/>
        </p:nvSpPr>
        <p:spPr>
          <a:xfrm>
            <a:off x="567329" y="1935579"/>
            <a:ext cx="3504088" cy="260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r>
              <a:rPr lang="en-US" sz="3600" dirty="0">
                <a:latin typeface="Bernard MT Condensed" panose="02050806060905020404" pitchFamily="18" charset="0"/>
              </a:rPr>
              <a:t>THANK YOU</a:t>
            </a:r>
          </a:p>
          <a:p>
            <a:pPr marL="45720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endParaRPr lang="en-US" dirty="0"/>
          </a:p>
          <a:p>
            <a:pPr marL="133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dirty="0"/>
          </a:p>
          <a:p>
            <a:pPr marL="133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</a:pPr>
            <a:endParaRPr lang="en-US" sz="15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976238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219</TotalTime>
  <Words>291</Words>
  <Application>Microsoft Office PowerPoint</Application>
  <PresentationFormat>On-screen Show (16:9)</PresentationFormat>
  <Paragraphs>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Bernard MT Condensed</vt:lpstr>
      <vt:lpstr>Cambria Math</vt:lpstr>
      <vt:lpstr>Times New Roman</vt:lpstr>
      <vt:lpstr>Trebuchet MS</vt:lpstr>
      <vt:lpstr>Berlin</vt:lpstr>
      <vt:lpstr>Presented By: Supath Shrestha(25705/077) Suyog Shrestha(25707/077) Uddhab Shrestha(25708/077)  Date: 29th Jan, 2025</vt:lpstr>
      <vt:lpstr>Introduction</vt:lpstr>
      <vt:lpstr>Problem Statements</vt:lpstr>
      <vt:lpstr>Objectives</vt:lpstr>
      <vt:lpstr>Algorithms Used</vt:lpstr>
      <vt:lpstr>SVD</vt:lpstr>
      <vt:lpstr>TF-IDF</vt:lpstr>
      <vt:lpstr>Cosine Similarity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Uddhab Shrestha</cp:lastModifiedBy>
  <cp:revision>78</cp:revision>
  <dcterms:modified xsi:type="dcterms:W3CDTF">2025-01-28T09:11:44Z</dcterms:modified>
</cp:coreProperties>
</file>